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109728"/>
          </a:xfrm>
          <a:prstGeom prst="rect">
            <a:avLst/>
          </a:prstGeom>
          <a:solidFill>
            <a:srgbClr val="E4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Assessment 평가·진단 시스템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ADC4E8"/>
                </a:solidFill>
                <a:latin typeface="Malgun Gothic"/>
              </a:rPr>
              <a:t>테스트 환경 구성 &amp; 배포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3484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7D2E8"/>
                </a:solidFill>
                <a:latin typeface="Malgun Gothic"/>
              </a:rPr>
              <a:t>기술팀 내부 공유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Malgun Gothic"/>
              </a:rPr>
              <a:t>발표자: taewon  ·  2026-06-18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상세 커버리지 매트릭스는 별첨 문서 참조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46304"/>
            <a:ext cx="658368" cy="658368"/>
          </a:xfrm>
          <a:prstGeom prst="ellipse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9728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한눈에 보기 — 시스템 구조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7D2E8"/>
                </a:solidFill>
                <a:latin typeface="Malgun Gothic"/>
              </a:rPr>
              <a:t>무엇을 만들었는가: 기능 코드가 아니라 '배포 인프라'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737360" cy="91440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사내망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사용자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1737360" cy="914400"/>
          </a:xfrm>
          <a:prstGeom prst="roundRect">
            <a:avLst/>
          </a:prstGeom>
          <a:solidFill>
            <a:srgbClr val="22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Bastion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배포·운영 거점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417320"/>
            <a:ext cx="8778240" cy="4754880"/>
          </a:xfrm>
          <a:prstGeom prst="roundRect">
            <a:avLst/>
          </a:prstGeom>
          <a:solidFill>
            <a:srgbClr val="EEF0F3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48132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Malgun Gothic"/>
              </a:rPr>
              <a:t>OpenStack 폐쇄망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194560"/>
            <a:ext cx="3657600" cy="1737360"/>
          </a:xfrm>
          <a:prstGeom prst="roundRect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Engine VM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api · consumer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postgres · rabbitmq · redis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= docker compose 단일 스택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194560"/>
            <a:ext cx="3657600" cy="86868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AI VM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Ollama + diagnostic-worker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246120"/>
            <a:ext cx="3657600" cy="685800"/>
          </a:xfrm>
          <a:prstGeom prst="roundRect">
            <a:avLst/>
          </a:prstGeom>
          <a:noFill/>
          <a:ln w="15875">
            <a:solidFill>
              <a:srgbClr val="1B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1B8A8A"/>
                </a:solidFill>
                <a:latin typeface="Malgun Gothic"/>
              </a:rPr>
              <a:t>—  AMQP / Ollama :11434  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4297680"/>
            <a:ext cx="7955279" cy="1554480"/>
          </a:xfrm>
          <a:prstGeom prst="roundRect">
            <a:avLst/>
          </a:prstGeom>
          <a:solidFill>
            <a:srgbClr val="E4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Agent 플릿  ·  39대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Linux 31  +  Windows 8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(점검 대상 서버 시뮬레이션)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2651760"/>
            <a:ext cx="1097280" cy="182880"/>
          </a:xfrm>
          <a:prstGeom prst="line">
            <a:avLst/>
          </a:prstGeom>
          <a:ln w="31750">
            <a:solidFill>
              <a:srgbClr val="2E5CB5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03120" y="23317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2E5CB5"/>
                </a:solidFill>
                <a:latin typeface="Malgun Gothic"/>
              </a:rPr>
              <a:t>HTTP :8000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5120640" y="3931920"/>
            <a:ext cx="1828800" cy="914400"/>
          </a:xfrm>
          <a:prstGeom prst="line">
            <a:avLst/>
          </a:prstGeom>
          <a:ln w="31750">
            <a:solidFill>
              <a:srgbClr val="E47A2E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12080" y="43434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E47A2E"/>
                </a:solidFill>
                <a:latin typeface="Malgun Gothic"/>
              </a:rPr>
              <a:t>AMQP :5672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949440" y="2743200"/>
            <a:ext cx="640080" cy="0"/>
          </a:xfrm>
          <a:prstGeom prst="line">
            <a:avLst/>
          </a:prstGeom>
          <a:ln w="25400">
            <a:solidFill>
              <a:srgbClr val="1B8A8A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25880" y="3108960"/>
            <a:ext cx="0" cy="1097280"/>
          </a:xfrm>
          <a:prstGeom prst="line">
            <a:avLst/>
          </a:prstGeom>
          <a:ln w="19050">
            <a:solidFill>
              <a:srgbClr val="6B7280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94560" y="4663440"/>
            <a:ext cx="64008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h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74519" y="48006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6B7280"/>
                </a:solidFill>
                <a:latin typeface="Malgun Gothic"/>
              </a:rPr>
              <a:t>SSH 배포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89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62C"/>
                </a:solidFill>
                <a:latin typeface="Malgun Gothic"/>
              </a:rPr>
              <a:t>VM 3종 — ① 평가 엔진(1) · ② AI 진단(1) · ③ agent 플릿(39, 점검 대상 시뮬레이션)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73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lgun Gothic"/>
              </a:rPr>
              <a:t>Assessment ·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46304"/>
            <a:ext cx="658368" cy="658368"/>
          </a:xfrm>
          <a:prstGeom prst="ellipse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9728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고객 사용 시나리오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7D2E8"/>
                </a:solidFill>
                <a:latin typeface="Malgun Gothic"/>
              </a:rPr>
              <a:t>고객 관점 — 에이전트 하나로 서버 인식부터 원격 작업·AI 진단까지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94560"/>
            <a:ext cx="260604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1394460" y="1783080"/>
            <a:ext cx="822960" cy="822960"/>
          </a:xfrm>
          <a:prstGeom prst="ellipse">
            <a:avLst/>
          </a:prstGeom>
          <a:solidFill>
            <a:srgbClr val="E4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39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47A2E"/>
                </a:solidFill>
                <a:latin typeface="Malgun Gothic"/>
              </a:rPr>
              <a:t>에이전트 설치</a:t>
            </a:r>
          </a:p>
          <a:p>
            <a:pPr algn="ctr">
              <a:spcAft>
                <a:spcPts val="400"/>
              </a:spcAft>
            </a:pPr>
            <a:r>
              <a:rPr sz="6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22262C"/>
                </a:solidFill>
                <a:latin typeface="Malgun Gothic"/>
              </a:rPr>
              <a:t>고객 서버에
assessment-agent 배포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54680" y="3337560"/>
            <a:ext cx="292608" cy="0"/>
          </a:xfrm>
          <a:prstGeom prst="line">
            <a:avLst/>
          </a:prstGeom>
          <a:ln w="31750">
            <a:solidFill>
              <a:srgbClr val="6B7280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93008" y="2194560"/>
            <a:ext cx="260604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4384548" y="1783080"/>
            <a:ext cx="822960" cy="822960"/>
          </a:xfrm>
          <a:prstGeom prst="ellipse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834639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E5CB5"/>
                </a:solidFill>
                <a:latin typeface="Malgun Gothic"/>
              </a:rPr>
              <a:t>서버 자동 인식</a:t>
            </a:r>
          </a:p>
          <a:p>
            <a:pPr algn="ctr">
              <a:spcAft>
                <a:spcPts val="400"/>
              </a:spcAft>
            </a:pPr>
            <a:r>
              <a:rPr sz="6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22262C"/>
                </a:solidFill>
                <a:latin typeface="Malgun Gothic"/>
              </a:rPr>
              <a:t>agent가 스스로 보고 →
대시보드에 서버 등장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44768" y="3337560"/>
            <a:ext cx="292608" cy="0"/>
          </a:xfrm>
          <a:prstGeom prst="line">
            <a:avLst/>
          </a:prstGeom>
          <a:ln w="31750">
            <a:solidFill>
              <a:srgbClr val="6B7280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83096" y="2194560"/>
            <a:ext cx="260604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7374636" y="1783080"/>
            <a:ext cx="822960" cy="822960"/>
          </a:xfrm>
          <a:prstGeom prst="ellipse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834639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B8A8A"/>
                </a:solidFill>
                <a:latin typeface="Malgun Gothic"/>
              </a:rPr>
              <a:t>원격 작업 발행</a:t>
            </a:r>
          </a:p>
          <a:p>
            <a:pPr algn="ctr">
              <a:spcAft>
                <a:spcPts val="400"/>
              </a:spcAft>
            </a:pPr>
            <a:r>
              <a:rPr sz="6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22262C"/>
                </a:solidFill>
                <a:latin typeface="Malgun Gothic"/>
              </a:rPr>
              <a:t>ZDM install 등
작업을 원격으로 실행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34856" y="3337560"/>
            <a:ext cx="292608" cy="0"/>
          </a:xfrm>
          <a:prstGeom prst="line">
            <a:avLst/>
          </a:prstGeom>
          <a:ln w="31750">
            <a:solidFill>
              <a:srgbClr val="6B7280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73184" y="2194560"/>
            <a:ext cx="260604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10364724" y="1783080"/>
            <a:ext cx="822960" cy="822960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0344" y="2834639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2A44"/>
                </a:solidFill>
                <a:latin typeface="Malgun Gothic"/>
              </a:rPr>
              <a:t>AI 진단 확인</a:t>
            </a:r>
          </a:p>
          <a:p>
            <a:pPr algn="ctr">
              <a:spcAft>
                <a:spcPts val="400"/>
              </a:spcAft>
            </a:pPr>
            <a:r>
              <a:rPr sz="6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22262C"/>
                </a:solidFill>
                <a:latin typeface="Malgun Gothic"/>
              </a:rPr>
              <a:t>작업 결과에 LLM
진단 코멘트가 붙음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37760"/>
            <a:ext cx="11201400" cy="1280160"/>
          </a:xfrm>
          <a:prstGeom prst="roundRect">
            <a:avLst/>
          </a:prstGeom>
          <a:solidFill>
            <a:srgbClr val="EEF0F3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500" b="1">
                <a:solidFill>
                  <a:srgbClr val="22262C"/>
                </a:solidFill>
                <a:latin typeface="Malgun Gothic"/>
              </a:rPr>
              <a:t>고객 입장에선 '에이전트 설치 → 대시보드에 서버가 뜬다'가 전부.</a:t>
            </a:r>
          </a:p>
          <a:p>
            <a:pPr algn="l"/>
            <a:r>
              <a:rPr sz="1500" b="1">
                <a:solidFill>
                  <a:srgbClr val="22262C"/>
                </a:solidFill>
                <a:latin typeface="Malgun Gothic"/>
              </a:rPr>
              <a:t>단순 모니터링을 넘어 원격 작업 발행 + AI 진단까지가 이 제품의 차별점.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73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lgun Gothic"/>
              </a:rPr>
              <a:t>Assessment ·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46304"/>
            <a:ext cx="658368" cy="658368"/>
          </a:xfrm>
          <a:prstGeom prst="ellipse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9728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테스트 환경 — 구성 개요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7D2E8"/>
                </a:solidFill>
                <a:latin typeface="Malgun Gothic"/>
              </a:rPr>
              <a:t>고객 서버는 제각각 → '실제로 띄워서' 동작을 실측하는 환경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212080" cy="548640"/>
          </a:xfrm>
          <a:prstGeom prst="roundRect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무엇을 만들었나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029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62C"/>
                </a:solidFill>
                <a:latin typeface="Malgun Gothic"/>
              </a:rPr>
              <a:t>● 39대 멀티-OS 테스트 플릿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algun Gothic"/>
              </a:rPr>
              <a:t>   Linux 31대 + Windows 8대</a:t>
            </a:r>
          </a:p>
          <a:p>
            <a:pPr algn="l">
              <a:spcAft>
                <a:spcPts val="400"/>
              </a:spcAft>
            </a:pPr>
            <a:r>
              <a:rPr sz="7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62C"/>
                </a:solidFill>
                <a:latin typeface="Malgun Gothic"/>
              </a:rPr>
              <a:t>● 각 VM에 로컬 서비스 7종 설치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algun Gothic"/>
              </a:rPr>
              <a:t>   db·cache·mq·web·app·container·monitor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algun Gothic"/>
              </a:rPr>
              <a:t>   = 실제 고객 워크로드 재현</a:t>
            </a:r>
          </a:p>
          <a:p>
            <a:pPr algn="l">
              <a:spcAft>
                <a:spcPts val="400"/>
              </a:spcAft>
            </a:pPr>
            <a:r>
              <a:rPr sz="7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62C"/>
                </a:solidFill>
                <a:latin typeface="Malgun Gothic"/>
              </a:rPr>
              <a:t>● noise 레이어로 장애·부하 시뮬레이션</a:t>
            </a:r>
          </a:p>
          <a:p>
            <a:pPr algn="l">
              <a:spcAft>
                <a:spcPts val="400"/>
              </a:spcAft>
            </a:pPr>
            <a:r>
              <a:rPr sz="7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62C"/>
                </a:solidFill>
                <a:latin typeface="Malgun Gothic"/>
              </a:rPr>
              <a:t>● 서브넷 8개 분산 + dual-homed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algun Gothic"/>
              </a:rPr>
              <a:t>   멀티 NIC·서브넷 간 통신까지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577840" cy="548640"/>
          </a:xfrm>
          <a:prstGeom prst="roundRect">
            <a:avLst/>
          </a:prstGeom>
          <a:solidFill>
            <a:srgbClr val="E4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왜 이렇게까지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48840"/>
            <a:ext cx="53035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62C"/>
                </a:solidFill>
                <a:latin typeface="Malgun Gothic"/>
              </a:rPr>
              <a:t>고객 서버 OS가 제각각이다.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62C"/>
                </a:solidFill>
                <a:latin typeface="Malgun Gothic"/>
              </a:rPr>
              <a:t>빌드 매트릭스로 '될 것이다' 추론이 아니라,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62C"/>
                </a:solidFill>
                <a:latin typeface="Malgun Gothic"/>
              </a:rPr>
              <a:t>각 OS 이미지에 인스턴스를 실제로 띄우고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62C"/>
                </a:solidFill>
                <a:latin typeface="Malgun Gothic"/>
              </a:rPr>
              <a:t>agent를 배포해 직접 확인한다.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E5CB5"/>
                </a:solidFill>
                <a:latin typeface="Malgun Gothic"/>
              </a:rPr>
              <a:t>검증 핵심 2가지: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62C"/>
                </a:solidFill>
                <a:latin typeface="Malgun Gothic"/>
              </a:rPr>
              <a:t>  ✓ MQ 발행 — 엔진이 서버를 인식하는가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62C"/>
                </a:solidFill>
                <a:latin typeface="Malgun Gothic"/>
              </a:rPr>
              <a:t>  ✓ ZDM install — 원격 작업이 수행되는가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E8B57"/>
                </a:solidFill>
                <a:latin typeface="Malgun Gothic"/>
              </a:rPr>
              <a:t>⇒ 현실 조건(워크로드+노이즈)에서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E8B57"/>
                </a:solidFill>
                <a:latin typeface="Malgun Gothic"/>
              </a:rPr>
              <a:t>   agent가 버티는지까지 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lgun Gothic"/>
              </a:rPr>
              <a:t>Assessment ·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46304"/>
            <a:ext cx="658368" cy="658368"/>
          </a:xfrm>
          <a:prstGeom prst="ellipse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9728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테스트 환경 — OS 커버리지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7D2E8"/>
                </a:solidFill>
                <a:latin typeface="Malgun Gothic"/>
              </a:rPr>
              <a:t>검증 축이 3개: OS 종류 × firmware × Python 버전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943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65760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계열</a:t>
                      </a:r>
                    </a:p>
                  </a:txBody>
                  <a:tcPr anchor="ctr" marL="73152" marT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커버 범위</a:t>
                      </a:r>
                    </a:p>
                  </a:txBody>
                  <a:tcPr anchor="ctr" marL="73152" marT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대수</a:t>
                      </a:r>
                    </a:p>
                  </a:txBody>
                  <a:tcPr anchor="ctr" marL="73152" marT="18288">
                    <a:solidFill>
                      <a:srgbClr val="1F2A4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62C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anchor="ctr" marL="73152" marT="18288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2C"/>
                          </a:solidFill>
                          <a:latin typeface="Malgun Gothic"/>
                        </a:rPr>
                        <a:t>Debian·Ubuntu·Rocky·Alma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22262C"/>
                          </a:solidFill>
                          <a:latin typeface="Malgun Gothic"/>
                        </a:rPr>
                        <a:t>CentOS·Oracle·Amazon</a:t>
                      </a:r>
                    </a:p>
                  </a:txBody>
                  <a:tcPr anchor="ctr" marL="73152" marT="18288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62C"/>
                          </a:solidFill>
                          <a:latin typeface="Malgun Gothic"/>
                        </a:rPr>
                        <a:t>31</a:t>
                      </a:r>
                    </a:p>
                  </a:txBody>
                  <a:tcPr anchor="ctr" marL="73152" marT="18288">
                    <a:solidFill>
                      <a:srgbClr val="EEF0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62C"/>
                          </a:solidFill>
                          <a:latin typeface="Malgun Gothic"/>
                        </a:rPr>
                        <a:t>Windows</a:t>
                      </a:r>
                    </a:p>
                  </a:txBody>
                  <a:tcPr anchor="ctr" marL="73152" marT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2C"/>
                          </a:solidFill>
                          <a:latin typeface="Malgun Gothic"/>
                        </a:rPr>
                        <a:t>2003 · 2008 · 2012 ~ 2025</a:t>
                      </a:r>
                    </a:p>
                  </a:txBody>
                  <a:tcPr anchor="ctr" marL="73152" marT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62C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anchor="ctr" marL="73152" marT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429000"/>
            <a:ext cx="5943600" cy="1051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목적: 각 이미지에 인스턴스를 띄우고 agent 배포 →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MQ 발행 + ZDM install 이 실제로 되는지 실측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09160"/>
            <a:ext cx="5943600" cy="1371600"/>
          </a:xfrm>
          <a:prstGeom prst="roundRect">
            <a:avLst/>
          </a:prstGeom>
          <a:solidFill>
            <a:srgbClr val="EEF0F3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0">
                <a:solidFill>
                  <a:srgbClr val="22262C"/>
                </a:solidFill>
                <a:latin typeface="Malgun Gothic"/>
              </a:rPr>
              <a:t>왜 단순 빌드 매트릭스가 아니라 실측인가</a:t>
            </a:r>
          </a:p>
          <a:p>
            <a:pPr algn="l"/>
            <a:r>
              <a:rPr sz="13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22262C"/>
                </a:solidFill>
                <a:latin typeface="Malgun Gothic"/>
              </a:rPr>
              <a:t>같은 바이너리도 OS·firmware·Python 버전에 따라</a:t>
            </a:r>
          </a:p>
          <a:p>
            <a:pPr algn="l"/>
            <a:r>
              <a:rPr sz="1300" b="0">
                <a:solidFill>
                  <a:srgbClr val="22262C"/>
                </a:solidFill>
                <a:latin typeface="Malgun Gothic"/>
              </a:rPr>
              <a:t>부팅·ZDM 동작이 달라지기 때문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371600"/>
            <a:ext cx="5029200" cy="457200"/>
          </a:xfrm>
          <a:prstGeom prst="roundRect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검증 축 3개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011680"/>
            <a:ext cx="502920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47A2E"/>
                </a:solidFill>
                <a:latin typeface="Malgun Gothic"/>
              </a:rPr>
              <a:t>● OS 종류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62C"/>
                </a:solidFill>
                <a:latin typeface="Malgun Gothic"/>
              </a:rPr>
              <a:t>Linux 7개 배포판 + Windows 8세대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429000"/>
            <a:ext cx="502920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593592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47A2E"/>
                </a:solidFill>
                <a:latin typeface="Malgun Gothic"/>
              </a:rPr>
              <a:t>● Firmware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62C"/>
                </a:solidFill>
                <a:latin typeface="Malgun Gothic"/>
              </a:rPr>
              <a:t>같은 OS도 BIOS / UEFI 따로 검증
(부팅·ZDM 동작 상이)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846320"/>
            <a:ext cx="502920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010912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47A2E"/>
                </a:solidFill>
                <a:latin typeface="Malgun Gothic"/>
              </a:rPr>
              <a:t>● Python 버전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62C"/>
                </a:solidFill>
                <a:latin typeface="Malgun Gothic"/>
              </a:rPr>
              <a:t>py&lt;3.7 OS는 정적 바이너리
수동 배포 경로로 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73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lgun Gothic"/>
              </a:rPr>
              <a:t>Assessment ·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46304"/>
            <a:ext cx="658368" cy="658368"/>
          </a:xfrm>
          <a:prstGeom prst="ellipse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9728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테스트 환경 — 서브넷 토폴로지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7D2E8"/>
                </a:solidFill>
                <a:latin typeface="Malgun Gothic"/>
              </a:rPr>
              <a:t>primary는 고정 / secondary는 분산 + dual-homed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47120" cy="640080"/>
          </a:xfrm>
          <a:prstGeom prst="roundRect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primary NIC — 전 agent 'agent-subnet' 고정  (engine MQ · bastion 연결, 필수)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34640"/>
            <a:ext cx="1234440" cy="914400"/>
          </a:xfrm>
          <a:prstGeom prst="roundRect">
            <a:avLst/>
          </a:prstGeom>
          <a:solidFill>
            <a:srgbClr val="E4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test-net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1952" y="2834640"/>
            <a:ext cx="1234440" cy="91440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-02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0984" y="2834640"/>
            <a:ext cx="1234440" cy="91440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-03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0016" y="2834640"/>
            <a:ext cx="1234440" cy="91440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-04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2834640"/>
            <a:ext cx="1234440" cy="91440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-05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0" y="2834640"/>
            <a:ext cx="1234440" cy="91440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-06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7112" y="2834640"/>
            <a:ext cx="1234440" cy="91440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-07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96144" y="2834640"/>
            <a:ext cx="1234440" cy="91440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-08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3대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3291840"/>
            <a:ext cx="16459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136392" y="3291840"/>
            <a:ext cx="16459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35424" y="3291840"/>
            <a:ext cx="16459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34456" y="3291840"/>
            <a:ext cx="16459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33488" y="3291840"/>
            <a:ext cx="16459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32520" y="3291840"/>
            <a:ext cx="16459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31552" y="3291840"/>
            <a:ext cx="16459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913364" y="3749039"/>
            <a:ext cx="0" cy="502920"/>
          </a:xfrm>
          <a:prstGeom prst="line">
            <a:avLst/>
          </a:prstGeom>
          <a:ln w="19050">
            <a:solidFill>
              <a:srgbClr val="E47A2E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0140" y="4251959"/>
            <a:ext cx="9793224" cy="0"/>
          </a:xfrm>
          <a:prstGeom prst="line">
            <a:avLst/>
          </a:prstGeom>
          <a:ln w="19050">
            <a:solidFill>
              <a:srgbClr val="E47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20140" y="3749039"/>
            <a:ext cx="0" cy="502920"/>
          </a:xfrm>
          <a:prstGeom prst="line">
            <a:avLst/>
          </a:prstGeom>
          <a:ln w="19050">
            <a:solidFill>
              <a:srgbClr val="E47A2E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0" y="42336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E47A2E"/>
                </a:solidFill>
                <a:latin typeface="Malgun Gothic"/>
              </a:rPr>
              <a:t>wrap-around (dual-homed)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2920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62C"/>
                </a:solidFill>
                <a:latin typeface="Malgun Gothic"/>
              </a:rPr>
              <a:t>● secondary NIC — Linux 31대를 4대씩 8개 서브넷에 분산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62C"/>
                </a:solidFill>
                <a:latin typeface="Malgun Gothic"/>
              </a:rPr>
              <a:t>● dual-homed — 각 그룹 첫 대는 인접 서브넷에도 연결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algun Gothic"/>
              </a:rPr>
              <a:t>   → 멀티 NIC · 서브넷 간 통신 시나리오까지 검증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   신규 서브넷 6개는 internal-only 스택에서 Terraform 생성 (ADR-0013)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73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lgun Gothic"/>
              </a:rPr>
              <a:t>Assessment ·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46304"/>
            <a:ext cx="658368" cy="658368"/>
          </a:xfrm>
          <a:prstGeom prst="ellipse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9728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테스트 환경 — 워크로드 시뮬레이션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7D2E8"/>
                </a:solidFill>
                <a:latin typeface="Malgun Gothic"/>
              </a:rPr>
              <a:t>빈 VM이 아니라 '실제 고객 서버처럼'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6858000" cy="4663440"/>
          </a:xfrm>
          <a:prstGeom prst="roundRect">
            <a:avLst/>
          </a:prstGeom>
          <a:solidFill>
            <a:srgbClr val="EEF0F3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B7280"/>
                </a:solidFill>
                <a:latin typeface="Malgun Gothic"/>
              </a:rPr>
              <a:t>agent VM 1대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011680"/>
            <a:ext cx="6126480" cy="731520"/>
          </a:xfrm>
          <a:prstGeom prst="roundRect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assessment-agent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971800"/>
            <a:ext cx="6126480" cy="411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>
                <a:solidFill>
                  <a:srgbClr val="1B8A8A"/>
                </a:solidFill>
                <a:latin typeface="Malgun Gothic"/>
              </a:rPr>
              <a:t>로컬 서비스 7종 = 점검 대상 워크로드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429000"/>
            <a:ext cx="841248" cy="64008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5376" y="3429000"/>
            <a:ext cx="841248" cy="64008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cache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4912" y="3429000"/>
            <a:ext cx="841248" cy="64008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mq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3429000"/>
            <a:ext cx="841248" cy="64008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web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3429000"/>
            <a:ext cx="841248" cy="64008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29000"/>
            <a:ext cx="841248" cy="64008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container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3429000"/>
            <a:ext cx="841248" cy="64008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monitor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343400"/>
            <a:ext cx="6126480" cy="1280160"/>
          </a:xfrm>
          <a:prstGeom prst="roundRect">
            <a:avLst/>
          </a:prstGeom>
          <a:solidFill>
            <a:srgbClr val="E4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noise 레이어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재시작 · offline · 부하 시뮬레이션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069080" y="4069080"/>
            <a:ext cx="0" cy="274320"/>
          </a:xfrm>
          <a:prstGeom prst="line">
            <a:avLst/>
          </a:prstGeom>
          <a:ln w="25400">
            <a:solidFill>
              <a:srgbClr val="E47A2E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0" y="1737360"/>
            <a:ext cx="4023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5CB5"/>
                </a:solidFill>
                <a:latin typeface="Malgun Gothic"/>
              </a:rPr>
              <a:t>왜 이렇게?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62C"/>
                </a:solidFill>
                <a:latin typeface="Malgun Gothic"/>
              </a:rPr>
              <a:t>실제 고객 서버에는 DB·캐시·웹·컨테이너가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62C"/>
                </a:solidFill>
                <a:latin typeface="Malgun Gothic"/>
              </a:rPr>
              <a:t>다 돌고 있다.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62C"/>
                </a:solidFill>
                <a:latin typeface="Malgun Gothic"/>
              </a:rPr>
              <a:t>→ 7종 로컬 서비스를 모두 설치해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62C"/>
                </a:solidFill>
                <a:latin typeface="Malgun Gothic"/>
              </a:rPr>
              <a:t>   현실 워크로드를 재현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62C"/>
                </a:solidFill>
                <a:latin typeface="Malgun Gothic"/>
              </a:rPr>
              <a:t>→ noise role로 장애·부하까지 흉내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E8B57"/>
                </a:solidFill>
                <a:latin typeface="Malgun Gothic"/>
              </a:rPr>
              <a:t>⇒ agent가 현실 조건에서 버티는지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73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lgun Gothic"/>
              </a:rPr>
              <a:t>Assessment ·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46304"/>
            <a:ext cx="658368" cy="658368"/>
          </a:xfrm>
          <a:prstGeom prst="ellipse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9728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테스트 환경 — 어떻게 구축했나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7D2E8"/>
                </a:solidFill>
                <a:latin typeface="Malgun Gothic"/>
              </a:rPr>
              <a:t>폐쇄망 제약 위에서 Terraform → Ansible 파이프라인으로 자동 구성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291840" cy="91440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Horizon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net · router · keypair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(수동 1회)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291840" cy="914400"/>
          </a:xfrm>
          <a:prstGeom prst="roundRect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Terraform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SG · VM · port · volume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17320"/>
            <a:ext cx="3291840" cy="914400"/>
          </a:xfrm>
          <a:prstGeom prst="round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Ansible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바이너리 배포 · 서비스 · noise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1874519"/>
            <a:ext cx="502920" cy="0"/>
          </a:xfrm>
          <a:prstGeom prst="line">
            <a:avLst/>
          </a:prstGeom>
          <a:ln w="31750">
            <a:solidFill>
              <a:srgbClr val="22262C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26679" y="1874519"/>
            <a:ext cx="502921" cy="0"/>
          </a:xfrm>
          <a:prstGeom prst="line">
            <a:avLst/>
          </a:prstGeom>
          <a:ln w="31750">
            <a:solidFill>
              <a:srgbClr val="22262C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2743200"/>
            <a:ext cx="10972800" cy="502920"/>
          </a:xfrm>
          <a:prstGeom prst="roundRect">
            <a:avLst/>
          </a:prstGeom>
          <a:solidFill>
            <a:srgbClr val="E4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폐쇄망 제약 — VM은 외부 인터넷 직접 접근 불가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20440"/>
            <a:ext cx="2468880" cy="100584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인터넷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Releases·GHCR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520440"/>
            <a:ext cx="2468880" cy="1005840"/>
          </a:xfrm>
          <a:prstGeom prst="roundRect">
            <a:avLst/>
          </a:prstGeom>
          <a:solidFill>
            <a:srgbClr val="22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Bastion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520440"/>
            <a:ext cx="2468880" cy="1005840"/>
          </a:xfrm>
          <a:prstGeom prst="roundRect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Agent VM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1840" y="4023360"/>
            <a:ext cx="1554480" cy="0"/>
          </a:xfrm>
          <a:prstGeom prst="line">
            <a:avLst/>
          </a:prstGeom>
          <a:ln w="25400">
            <a:solidFill>
              <a:srgbClr val="2E8B57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29000" y="373075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2E8B57"/>
                </a:solidFill>
                <a:latin typeface="Malgun Gothic"/>
              </a:rPr>
              <a:t>✓ 대신 받음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0" y="4023360"/>
            <a:ext cx="1554480" cy="0"/>
          </a:xfrm>
          <a:prstGeom prst="line">
            <a:avLst/>
          </a:prstGeom>
          <a:ln w="31750">
            <a:solidFill>
              <a:srgbClr val="2E5CB5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52360" y="373075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2E5CB5"/>
                </a:solidFill>
                <a:latin typeface="Malgun Gothic"/>
              </a:rPr>
              <a:t>바이너리 주입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0060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62C"/>
                </a:solidFill>
                <a:latin typeface="Malgun Gothic"/>
              </a:rPr>
              <a:t>● 자원(VM·SG·volume)은 Terraform 선언적 IaC / VM 내부 설정·secret은 Ansible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62C"/>
                </a:solidFill>
                <a:latin typeface="Malgun Gothic"/>
              </a:rPr>
              <a:t>● bastion이 agent 바이너리를 대신 받아 files/에 사전 복사 → Ansible로 주입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algun Gothic"/>
              </a:rPr>
              <a:t>● python&lt;3.7 OS는 정적 바이너리 수동 배포 / Windows는 WinRM + win_copy (ADR-0007)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73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lgun Gothic"/>
              </a:rPr>
              <a:t>Assessment ·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46304"/>
            <a:ext cx="658368" cy="658368"/>
          </a:xfrm>
          <a:prstGeom prst="ellipse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9728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검증 기준 &amp; 현황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7D2E8"/>
                </a:solidFill>
                <a:latin typeface="Malgun Gothic"/>
              </a:rPr>
              <a:t>상세 결과는 별첨 커버리지 매트릭스 문서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7315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2120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검증 항목</a:t>
                      </a:r>
                    </a:p>
                  </a:txBody>
                  <a:tcPr anchor="ctr" marL="9144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합격 기준</a:t>
                      </a:r>
                    </a:p>
                  </a:txBody>
                  <a:tcPr anchor="ctr" marL="91440">
                    <a:solidFill>
                      <a:srgbClr val="1F2A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62C"/>
                          </a:solidFill>
                          <a:latin typeface="Malgun Gothic"/>
                        </a:rPr>
                        <a:t>MQ 발행</a:t>
                      </a:r>
                    </a:p>
                  </a:txBody>
                  <a:tcPr anchor="ctr" marL="91440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2C"/>
                          </a:solidFill>
                          <a:latin typeface="Malgun Gothic"/>
                        </a:rPr>
                        <a:t>agent 기동 후 engine server_inventory에 신규 인식</a:t>
                      </a:r>
                    </a:p>
                  </a:txBody>
                  <a:tcPr anchor="ctr" marL="91440">
                    <a:solidFill>
                      <a:srgbClr val="EEF0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62C"/>
                          </a:solidFill>
                          <a:latin typeface="Malgun Gothic"/>
                        </a:rPr>
                        <a:t>ZDM install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2C"/>
                          </a:solidFill>
                          <a:latin typeface="Malgun Gothic"/>
                        </a:rPr>
                        <a:t>install 작업 발행 → agent 수행 → status success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62C"/>
                          </a:solidFill>
                          <a:latin typeface="Malgun Gothic"/>
                        </a:rPr>
                        <a:t>권한 모델</a:t>
                      </a:r>
                    </a:p>
                  </a:txBody>
                  <a:tcPr anchor="ctr" marL="91440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2C"/>
                          </a:solidFill>
                          <a:latin typeface="Malgun Gothic"/>
                        </a:rPr>
                        <a:t>생성 유저 / sudo / systemd User= 기록</a:t>
                      </a:r>
                    </a:p>
                  </a:txBody>
                  <a:tcPr anchor="ctr" marL="91440"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1325880"/>
            <a:ext cx="3703320" cy="457200"/>
          </a:xfrm>
          <a:prstGeom prst="roundRect">
            <a:avLst/>
          </a:prstGeom>
          <a:solidFill>
            <a:srgbClr val="E4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알려진 예외 (by-design)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874519"/>
            <a:ext cx="3657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62C"/>
                </a:solidFill>
                <a:latin typeface="Malgun Gothic"/>
              </a:rPr>
              <a:t>● Windows ZDM install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  엔진 패키지가 Linux 전용 → 구조적 불가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  (별도 지원 작업 필요)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62C"/>
                </a:solidFill>
                <a:latin typeface="Malgun Gothic"/>
              </a:rPr>
              <a:t>● RHEL 계열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  SELinux enforcing이 install.sh 차단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  → permissive 적용 (ADR-0012)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7315200" cy="1828800"/>
          </a:xfrm>
          <a:prstGeom prst="roundRect">
            <a:avLst/>
          </a:prstGeom>
          <a:solidFill>
            <a:srgbClr val="EEF0F3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400" b="1">
                <a:solidFill>
                  <a:srgbClr val="22262C"/>
                </a:solidFill>
                <a:latin typeface="Malgun Gothic"/>
              </a:rPr>
              <a:t>📎  OS별 BIOS/UEFI 전수 결과는</a:t>
            </a:r>
          </a:p>
          <a:p>
            <a:pPr algn="l"/>
            <a:r>
              <a:rPr sz="1400" b="1">
                <a:solidFill>
                  <a:srgbClr val="22262C"/>
                </a:solidFill>
                <a:latin typeface="Malgun Gothic"/>
              </a:rPr>
              <a:t>별첨 커버리지 매트릭스 문서 참조</a:t>
            </a:r>
          </a:p>
          <a:p>
            <a:pPr algn="l"/>
            <a:r>
              <a:rPr sz="1400" b="1">
                <a:solidFill>
                  <a:srgbClr val="22262C"/>
                </a:solidFill>
                <a:latin typeface="Malgun Gothic"/>
              </a:rPr>
              <a:t>(agent-binary-image-coverage.md)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lgun Gothic"/>
              </a:rPr>
              <a:t>Assessment ·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46304"/>
            <a:ext cx="658368" cy="658368"/>
          </a:xfrm>
          <a:prstGeom prst="ellipse">
            <a:avLst/>
          </a:prstGeom>
          <a:solidFill>
            <a:srgbClr val="2E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9728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마무리 — 현황 &amp; 남은 과제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94960" cy="5486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✅ 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212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62C"/>
                </a:solidFill>
                <a:latin typeface="Malgun Gothic"/>
              </a:rPr>
              <a:t>OS 매트릭스·서브넷 토폴로지 확정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(Linux 31 + Windows 8)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62C"/>
                </a:solidFill>
                <a:latin typeface="Malgun Gothic"/>
              </a:rPr>
              <a:t>Terraform 모델·tfvars 작성, validate 통과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62C"/>
                </a:solidFill>
                <a:latin typeface="Malgun Gothic"/>
              </a:rPr>
              <a:t>engine v0.7.0 가동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548640"/>
          </a:xfrm>
          <a:prstGeom prst="roundRect">
            <a:avLst/>
          </a:prstGeom>
          <a:solidFill>
            <a:srgbClr val="E4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☐  남은 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5212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62C"/>
                </a:solidFill>
                <a:latin typeface="Malgun Gothic"/>
              </a:rPr>
              <a:t>network 스택 apply → 서브넷 6개 생성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62C"/>
                </a:solidFill>
                <a:latin typeface="Malgun Gothic"/>
              </a:rPr>
              <a:t>agent 스택 apply → 39대 부팅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2262C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62C"/>
                </a:solidFill>
                <a:latin typeface="Malgun Gothic"/>
              </a:rPr>
              <a:t>전수 배포 → MQ·ZDM 검증 → 매트릭스 기입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86400"/>
            <a:ext cx="11155680" cy="8229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감사합니다   ·   Q &amp;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73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algun Gothic"/>
              </a:rPr>
              <a:t>Assessment ·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